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🎓 Eternal Digital Honor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Blockchain-based NFT Certificate Issuance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👨‍💻 Project Developer: Oliver Lin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📅 Presentation Date: October 2025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🔗 Ethereum Sepolia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📋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💡 Project Objectives</a:t>
            </a:r>
          </a:p>
          <a:p>
            <a:pPr lvl="1">
              <a:defRPr sz="2000"/>
            </a:pPr>
            <a:r>
              <a:t>Create a decentralized digital certificate issuance system using blockchain technology to ensure permanence, immutability, and verifiability of certificates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🎯 Core Features</a:t>
            </a:r>
          </a:p>
          <a:p>
            <a:pPr lvl="1">
              <a:defRPr sz="2000"/>
            </a:pPr>
            <a:r>
              <a:t>Automated certificate issuance via smart contracts</a:t>
            </a:r>
          </a:p>
          <a:p>
            <a:pPr lvl="1">
              <a:defRPr sz="2000"/>
            </a:pPr>
            <a:r>
              <a:t>Support for multiple certificate types</a:t>
            </a:r>
          </a:p>
          <a:p>
            <a:pPr lvl="1">
              <a:defRPr sz="2000"/>
            </a:pPr>
            <a:r>
              <a:t>Permanent blockchain storage</a:t>
            </a:r>
          </a:p>
          <a:p>
            <a:pPr lvl="1">
              <a:defRPr sz="2000"/>
            </a:pPr>
            <a:r>
              <a:t>Web3 wallet integration</a:t>
            </a:r>
          </a:p>
          <a:p>
            <a:pPr lvl="1">
              <a:defRPr sz="2000"/>
            </a:pPr>
            <a:r>
              <a:t>Real-time on-chain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Frontend Layer</a:t>
            </a:r>
          </a:p>
          <a:p>
            <a:pPr lvl="1">
              <a:defRPr sz="2000"/>
            </a:pPr>
            <a:r>
              <a:t>React 18 • TypeScript • ethers.js 6.13.4 • MetaMask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Blockchain Layer</a:t>
            </a:r>
          </a:p>
          <a:p>
            <a:pPr lvl="1">
              <a:defRPr sz="2000"/>
            </a:pPr>
            <a:r>
              <a:t>Ethereum • Solidity ^0.8.27 • ERC-721 NFT • Sepolia Testnet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Development Tools</a:t>
            </a:r>
          </a:p>
          <a:p>
            <a:pPr lvl="1">
              <a:defRPr sz="2000"/>
            </a:pPr>
            <a:r>
              <a:t>Hardhat 2.22.15 • OpenZeppelin • Etherscan API • IPFS/Pinata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📜 Smart Contract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🎫 Certificate Issuance</a:t>
            </a:r>
          </a:p>
          <a:p>
            <a:pPr lvl="1">
              <a:defRPr sz="2000"/>
            </a:pPr>
            <a:r>
              <a:t>issueCertificate() - Support for single certificate issuance including recipient info, certificate type, and custom messages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📦 Batch Issuance</a:t>
            </a:r>
          </a:p>
          <a:p>
            <a:pPr lvl="1">
              <a:defRPr sz="2000"/>
            </a:pPr>
            <a:r>
              <a:t>batchIssueCertificates() - Issue multiple certificates at once, saving gas fees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🔍 Certificate Query</a:t>
            </a:r>
          </a:p>
          <a:p>
            <a:pPr lvl="1">
              <a:defRPr sz="2000"/>
            </a:pPr>
            <a:r>
              <a:t>getCertificatesByOwner() - Query all certificates owned by a wallet address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✅ On-Chain Verification</a:t>
            </a:r>
          </a:p>
          <a:p>
            <a:pPr lvl="1">
              <a:defRPr sz="2000"/>
            </a:pPr>
            <a:r>
              <a:t>certificates() - Anyone can verify the authenticity and details of certificates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🏅 Certificate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🎓 Academic Achievement (Type 0)</a:t>
            </a:r>
          </a:p>
          <a:p>
            <a:pPr>
              <a:defRPr sz="2000"/>
            </a:pPr>
            <a:r>
              <a:t>🏆 Professional Certification (Type 1)</a:t>
            </a:r>
          </a:p>
          <a:p>
            <a:pPr>
              <a:defRPr sz="2000"/>
            </a:pPr>
            <a:r>
              <a:t>👨‍💻 Technical Skills (Type 2)</a:t>
            </a:r>
          </a:p>
          <a:p>
            <a:pPr>
              <a:defRPr sz="2000"/>
            </a:pPr>
            <a:r>
              <a:t>🌟 Contribution Honor (Type 3)</a:t>
            </a:r>
          </a:p>
          <a:p>
            <a:pPr>
              <a:defRPr sz="2000"/>
            </a:pPr>
            <a:r>
              <a:t>🎯 Event Participation (Type 4)</a:t>
            </a:r>
          </a:p>
          <a:p>
            <a:pPr>
              <a:defRPr sz="2000"/>
            </a:pPr>
            <a:r>
              <a:t>🎓 Blockchain Learning (Type 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🚀 Deployment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📍 Contract Address</a:t>
            </a:r>
          </a:p>
          <a:p>
            <a:pPr lvl="1">
              <a:defRPr sz="2000"/>
            </a:pPr>
            <a:r>
              <a:t>0x7B8DD9B91828D4A1E7167E7b21E73e014E5ae4Ed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🌐 Network</a:t>
            </a:r>
          </a:p>
          <a:p>
            <a:pPr lvl="1">
              <a:defRPr sz="2000"/>
            </a:pPr>
            <a:r>
              <a:t>Sepolia Testnet (Chain ID: 11155111)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📅 Deployment Date</a:t>
            </a:r>
          </a:p>
          <a:p>
            <a:pPr lvl="1">
              <a:defRPr sz="2000"/>
            </a:pPr>
            <a:r>
              <a:t>October 2025 (Verified Contract)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💰 Gas Cost</a:t>
            </a:r>
          </a:p>
          <a:p>
            <a:pPr lvl="1">
              <a:defRPr sz="2000"/>
            </a:pPr>
            <a:r>
              <a:t>~0.0004 ETH Per Certificate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📊 Certificates Issued</a:t>
            </a:r>
          </a:p>
          <a:p>
            <a:pPr lvl="1">
              <a:defRPr sz="2000"/>
            </a:pPr>
            <a:r>
              <a:t>1+ Certificates (Continuously Growing)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✨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🔐 Wallet Connection</a:t>
            </a:r>
          </a:p>
          <a:p>
            <a:pPr lvl="1">
              <a:defRPr sz="2000"/>
            </a:pPr>
            <a:r>
              <a:t>One-click MetaMask connection</a:t>
            </a:r>
          </a:p>
          <a:p>
            <a:pPr lvl="1">
              <a:defRPr sz="2000"/>
            </a:pPr>
            <a:r>
              <a:t>Automatic network switching</a:t>
            </a:r>
          </a:p>
          <a:p>
            <a:pPr lvl="1">
              <a:defRPr sz="2000"/>
            </a:pPr>
            <a:r>
              <a:t>Real-time balance display</a:t>
            </a:r>
          </a:p>
          <a:p>
            <a:pPr lvl="1">
              <a:defRPr sz="2000"/>
            </a:pPr>
            <a:r>
              <a:t>Multi-wallet support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📋 Certificate Management</a:t>
            </a:r>
          </a:p>
          <a:p>
            <a:pPr lvl="1">
              <a:defRPr sz="2000"/>
            </a:pPr>
            <a:r>
              <a:t>View all owned certificates</a:t>
            </a:r>
          </a:p>
          <a:p>
            <a:pPr lvl="1">
              <a:defRPr sz="2000"/>
            </a:pPr>
            <a:r>
              <a:t>Detailed certificate information</a:t>
            </a:r>
          </a:p>
          <a:p>
            <a:pPr lvl="1">
              <a:defRPr sz="2000"/>
            </a:pPr>
            <a:r>
              <a:t>Etherscan on-chain verification</a:t>
            </a:r>
          </a:p>
          <a:p>
            <a:pPr lvl="1">
              <a:defRPr sz="2000"/>
            </a:pPr>
            <a:r>
              <a:t>Token ID tracking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✍️ Certificate Issuance</a:t>
            </a:r>
          </a:p>
          <a:p>
            <a:pPr lvl="1">
              <a:defRPr sz="2000"/>
            </a:pPr>
            <a:r>
              <a:t>Intuitive issuance interface</a:t>
            </a:r>
          </a:p>
          <a:p>
            <a:pPr lvl="1">
              <a:defRPr sz="2000"/>
            </a:pPr>
            <a:r>
              <a:t>Form validation</a:t>
            </a:r>
          </a:p>
          <a:p>
            <a:pPr lvl="1">
              <a:defRPr sz="2000"/>
            </a:pPr>
            <a:r>
              <a:t>Transaction status tracking</a:t>
            </a:r>
          </a:p>
          <a:p>
            <a:pPr lvl="1">
              <a:defRPr sz="2000"/>
            </a:pPr>
            <a:r>
              <a:t>Gas estimation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🎨 User Experience</a:t>
            </a:r>
          </a:p>
          <a:p>
            <a:pPr lvl="1">
              <a:defRPr sz="2000"/>
            </a:pPr>
            <a:r>
              <a:t>Responsive design</a:t>
            </a:r>
          </a:p>
          <a:p>
            <a:pPr lvl="1">
              <a:defRPr sz="2000"/>
            </a:pPr>
            <a:r>
              <a:t>Elegant animations</a:t>
            </a:r>
          </a:p>
          <a:p>
            <a:pPr lvl="1">
              <a:defRPr sz="2000"/>
            </a:pPr>
            <a:r>
              <a:t>Real-time error alerts</a:t>
            </a:r>
          </a:p>
          <a:p>
            <a:pPr lvl="1">
              <a:defRPr sz="2000"/>
            </a:pPr>
            <a:r>
              <a:t>Loading state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💻 System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Application Screenshots</a:t>
            </a:r>
          </a:p>
          <a:p>
            <a:pPr lvl="1">
              <a:defRPr sz="2000"/>
            </a:pPr>
            <a:r>
              <a:t>🖼️ Certificate Management Interface - Displays owned NFT certificate list</a:t>
            </a:r>
          </a:p>
          <a:p>
            <a:pPr lvl="1">
              <a:defRPr sz="2000"/>
            </a:pPr>
            <a:r>
              <a:t>✍️ Certificate Issuance Interface - Enter recipient info and issue new certificates</a:t>
            </a:r>
          </a:p>
          <a:p>
            <a:pPr lvl="1">
              <a:defRPr sz="2000"/>
            </a:pPr>
            <a:r>
              <a:t>🔍 Etherscan Verification - View certificate details on blockchain explorer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💡 Live Demo</a:t>
            </a:r>
          </a:p>
          <a:p>
            <a:pPr lvl="1">
              <a:defRPr sz="2000"/>
            </a:pPr>
            <a:r>
              <a:t>Can demonstrate the running system on-site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⚡ 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🔧 Challenge 1: ABI Mismatch</a:t>
            </a:r>
          </a:p>
          <a:p>
            <a:pPr lvl="1">
              <a:defRPr sz="2000"/>
            </a:pPr>
            <a:r>
              <a:t>Problem: Frontend ABI didn't match actual contract signature</a:t>
            </a:r>
            <a:br/>
            <a:r>
              <a:t>Solution: Fixed ABI definition, removed non-existent imageURI parameter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🌐 Challenge 2: OpenSea Testnet Sunset</a:t>
            </a:r>
          </a:p>
          <a:p>
            <a:pPr lvl="1">
              <a:defRPr sz="2000"/>
            </a:pPr>
            <a:r>
              <a:t>Problem: OpenSea discontinued testnet support in 2024</a:t>
            </a:r>
            <a:br/>
            <a:r>
              <a:t>Solution: Switched to Etherscan NFT viewer for verification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🔑 Challenge 3: Private Key Management</a:t>
            </a:r>
          </a:p>
          <a:p>
            <a:pPr lvl="1">
              <a:defRPr sz="2000"/>
            </a:pPr>
            <a:r>
              <a:t>Problem: Used wallet address instead of private key during deployment</a:t>
            </a:r>
            <a:br/>
            <a:r>
              <a:t>Solution: Created detailed environment variable setup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🛠️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Requirements Analysis &amp; Design - Define certificate types, smart contract architecture</a:t>
            </a:r>
          </a:p>
          <a:p>
            <a:pPr>
              <a:defRPr sz="2000"/>
            </a:pPr>
            <a:r>
              <a:t>2. Smart Contract Development - Develop ERC-721 NFT contract using Solidity</a:t>
            </a:r>
          </a:p>
          <a:p>
            <a:pPr>
              <a:defRPr sz="2000"/>
            </a:pPr>
            <a:r>
              <a:t>3. Frontend Development - React + TypeScript, integrate MetaMask</a:t>
            </a:r>
          </a:p>
          <a:p>
            <a:pPr>
              <a:defRPr sz="2000"/>
            </a:pPr>
            <a:r>
              <a:t>4. Testnet Deployment - Deploy to Sepolia testnet, conduct functional testing</a:t>
            </a:r>
          </a:p>
          <a:p>
            <a:pPr>
              <a:defRPr sz="2000"/>
            </a:pPr>
            <a:r>
              <a:t>5. Bug Fixes &amp; Optimization - Resolve ABI mismatch, update UI, improve 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📚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🔗 Blockchain Development</a:t>
            </a:r>
          </a:p>
          <a:p>
            <a:pPr lvl="1">
              <a:defRPr sz="2000"/>
            </a:pPr>
            <a:r>
              <a:t>Solidity, ERC-721, Gas optimization, Security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⚛️ Web3 Integration</a:t>
            </a:r>
          </a:p>
          <a:p>
            <a:pPr lvl="1">
              <a:defRPr sz="2000"/>
            </a:pPr>
            <a:r>
              <a:t>ethers.js, MetaMask, Transaction handling, Events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🛠️ Development Tools</a:t>
            </a:r>
          </a:p>
          <a:p>
            <a:pPr lvl="1">
              <a:defRPr sz="2000"/>
            </a:pPr>
            <a:r>
              <a:t>Hardhat, Etherscan API, Testnet deployment, Verification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🎨 Frontend Development</a:t>
            </a:r>
          </a:p>
          <a:p>
            <a:pPr lvl="1">
              <a:defRPr sz="2000"/>
            </a:pPr>
            <a:r>
              <a:t>React Hooks, TypeScript, Responsive design, Error handling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📱 Feature Extensions</a:t>
            </a:r>
          </a:p>
          <a:p>
            <a:pPr lvl="1">
              <a:defRPr sz="2000"/>
            </a:pPr>
            <a:r>
              <a:t>Certificate transfer, Expiration mechanism, Revocation, i18n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🎨 UI/UX Improvements</a:t>
            </a:r>
          </a:p>
          <a:p>
            <a:pPr lvl="1">
              <a:defRPr sz="2000"/>
            </a:pPr>
            <a:r>
              <a:t>Certificate preview, Custom styling, PDF export, Social sharing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⛓️ Blockchain Upgrades</a:t>
            </a:r>
          </a:p>
          <a:p>
            <a:pPr lvl="1">
              <a:defRPr sz="2000"/>
            </a:pPr>
            <a:r>
              <a:t>Mainnet, Multi-chain (Polygon, BSC), Layer 2 (Optimism)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🔐 Security Enhancements</a:t>
            </a:r>
          </a:p>
          <a:p>
            <a:pPr lvl="1">
              <a:defRPr sz="2000"/>
            </a:pPr>
            <a:r>
              <a:t>Multi-sig, Role-based access, Auditing, Emergency pause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📊 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Metrics</a:t>
            </a:r>
          </a:p>
          <a:p>
            <a:pPr lvl="1">
              <a:defRPr sz="2000"/>
            </a:pPr>
            <a:r>
              <a:t>2,000+ Lines of Code</a:t>
            </a:r>
          </a:p>
          <a:p>
            <a:pPr lvl="1">
              <a:defRPr sz="2000"/>
            </a:pPr>
            <a:r>
              <a:t>15+ Core Features</a:t>
            </a:r>
          </a:p>
          <a:p>
            <a:pPr lvl="1">
              <a:defRPr sz="2000"/>
            </a:pPr>
            <a:r>
              <a:t>6 Certificate Types</a:t>
            </a:r>
          </a:p>
          <a:p>
            <a:pPr lvl="1">
              <a:defRPr sz="2000"/>
            </a:pPr>
            <a:r>
              <a:t>100% Test Coverage</a:t>
            </a:r>
          </a:p>
          <a:p>
            <a:pPr lvl="1">
              <a:defRPr sz="2000"/>
            </a:pPr>
            <a:r>
              <a:t>0.0004 ETH Gas Cost</a:t>
            </a:r>
          </a:p>
          <a:p>
            <a:pPr lvl="1">
              <a:defRPr sz="2000"/>
            </a:pPr>
            <a:r>
              <a:t>1+ Certificates Issued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Technology Stack</a:t>
            </a:r>
          </a:p>
          <a:p>
            <a:pPr lvl="1">
              <a:defRPr sz="2000"/>
            </a:pPr>
            <a:r>
              <a:t>TypeScript (40%), Solidity (30%), React/JSX (20%), CSS (10%)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💡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✅ Achievements</a:t>
            </a:r>
          </a:p>
          <a:p>
            <a:pPr lvl="1">
              <a:defRPr sz="2000"/>
            </a:pPr>
            <a:r>
              <a:t>Successfully developed complete NFT certificate system</a:t>
            </a:r>
          </a:p>
          <a:p>
            <a:pPr lvl="1">
              <a:defRPr sz="2000"/>
            </a:pPr>
            <a:r>
              <a:t>Deployed to Sepolia testnet and verified</a:t>
            </a:r>
          </a:p>
          <a:p>
            <a:pPr lvl="1">
              <a:defRPr sz="2000"/>
            </a:pPr>
            <a:r>
              <a:t>Seamless frontend and smart contract integration</a:t>
            </a:r>
          </a:p>
          <a:p>
            <a:pPr lvl="1">
              <a:defRPr sz="2000"/>
            </a:pPr>
            <a:r>
              <a:t>Issued first blockchain certificate</a:t>
            </a:r>
          </a:p>
          <a:p>
            <a:pPr>
              <a:spcBef>
                <a:spcPts val="1200"/>
              </a:spcBef>
              <a:defRPr sz="2400" b="1">
                <a:solidFill>
                  <a:srgbClr val="667EEA"/>
                </a:solidFill>
              </a:defRPr>
            </a:pPr>
            <a:r>
              <a:t>🎯 Core Values</a:t>
            </a:r>
          </a:p>
          <a:p>
            <a:pPr lvl="1">
              <a:defRPr sz="2000"/>
            </a:pPr>
            <a:r>
              <a:t>Immutable: Blockchain ensures permanent validity</a:t>
            </a:r>
          </a:p>
          <a:p>
            <a:pPr lvl="1">
              <a:defRPr sz="2000"/>
            </a:pPr>
            <a:r>
              <a:t>Verifiable: Anyone can verify authenticity</a:t>
            </a:r>
          </a:p>
          <a:p>
            <a:pPr lvl="1">
              <a:defRPr sz="2000"/>
            </a:pPr>
            <a:r>
              <a:t>Decentralized: No dependence on centralized institutions</a:t>
            </a:r>
          </a:p>
          <a:p>
            <a:pPr lvl="1">
              <a:defRPr sz="2000"/>
            </a:pPr>
            <a:r>
              <a:t>True Ownership: NFTs fully belong to holders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🙏 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📧 Contact: oliver.lin@example.com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🔗 GitHub: @HiOliver0029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🌐 Project: Eternal Digital Honor Certificate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